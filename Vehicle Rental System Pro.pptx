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</p:sldIdLst>
  <p:sldSz cy="6858000" cx="12192000"/>
  <p:notesSz cx="6858000" cy="9144000"/>
  <p:embeddedFontLst>
    <p:embeddedFont>
      <p:font typeface="JetBrains Mono SemiBold"/>
      <p:regular r:id="rId14"/>
      <p:bold r:id="rId15"/>
      <p:italic r:id="rId16"/>
      <p:boldItalic r:id="rId17"/>
    </p:embeddedFont>
    <p:embeddedFont>
      <p:font typeface="Urbanist"/>
      <p:regular r:id="rId18"/>
      <p:bold r:id="rId19"/>
      <p:italic r:id="rId20"/>
      <p:boldItalic r:id="rId21"/>
    </p:embeddedFont>
    <p:embeddedFont>
      <p:font typeface="JetBrains Mono"/>
      <p:regular r:id="rId22"/>
      <p:bold r:id="rId23"/>
      <p:italic r:id="rId24"/>
      <p:boldItalic r:id="rId2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Urbanist-italic.fntdata"/><Relationship Id="rId22" Type="http://schemas.openxmlformats.org/officeDocument/2006/relationships/font" Target="fonts/JetBrainsMono-regular.fntdata"/><Relationship Id="rId21" Type="http://schemas.openxmlformats.org/officeDocument/2006/relationships/font" Target="fonts/Urbanist-boldItalic.fntdata"/><Relationship Id="rId24" Type="http://schemas.openxmlformats.org/officeDocument/2006/relationships/font" Target="fonts/JetBrainsMono-italic.fntdata"/><Relationship Id="rId23" Type="http://schemas.openxmlformats.org/officeDocument/2006/relationships/font" Target="fonts/JetBrainsMono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5" Type="http://schemas.openxmlformats.org/officeDocument/2006/relationships/font" Target="fonts/JetBrainsMono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font" Target="fonts/JetBrainsMonoSemiBold-bold.fntdata"/><Relationship Id="rId14" Type="http://schemas.openxmlformats.org/officeDocument/2006/relationships/font" Target="fonts/JetBrainsMonoSemiBold-regular.fntdata"/><Relationship Id="rId17" Type="http://schemas.openxmlformats.org/officeDocument/2006/relationships/font" Target="fonts/JetBrainsMonoSemiBold-boldItalic.fntdata"/><Relationship Id="rId16" Type="http://schemas.openxmlformats.org/officeDocument/2006/relationships/font" Target="fonts/JetBrainsMonoSemiBold-italic.fntdata"/><Relationship Id="rId19" Type="http://schemas.openxmlformats.org/officeDocument/2006/relationships/font" Target="fonts/Urbanist-bold.fntdata"/><Relationship Id="rId18" Type="http://schemas.openxmlformats.org/officeDocument/2006/relationships/font" Target="fonts/Urbanist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3" name="Google Shape;113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7" name="Google Shape;13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5" name="Google Shape;185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2" name="Google Shape;202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9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9.png"/><Relationship Id="rId4" Type="http://schemas.openxmlformats.org/officeDocument/2006/relationships/image" Target="../media/image5.png"/><Relationship Id="rId11" Type="http://schemas.openxmlformats.org/officeDocument/2006/relationships/image" Target="../media/image1.png"/><Relationship Id="rId10" Type="http://schemas.openxmlformats.org/officeDocument/2006/relationships/image" Target="../media/image7.png"/><Relationship Id="rId9" Type="http://schemas.openxmlformats.org/officeDocument/2006/relationships/image" Target="../media/image23.png"/><Relationship Id="rId5" Type="http://schemas.openxmlformats.org/officeDocument/2006/relationships/image" Target="../media/image2.png"/><Relationship Id="rId6" Type="http://schemas.openxmlformats.org/officeDocument/2006/relationships/image" Target="../media/image6.png"/><Relationship Id="rId7" Type="http://schemas.openxmlformats.org/officeDocument/2006/relationships/image" Target="../media/image10.png"/><Relationship Id="rId8" Type="http://schemas.openxmlformats.org/officeDocument/2006/relationships/image" Target="../media/image8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Relationship Id="rId4" Type="http://schemas.openxmlformats.org/officeDocument/2006/relationships/image" Target="../media/image4.png"/><Relationship Id="rId5" Type="http://schemas.openxmlformats.org/officeDocument/2006/relationships/image" Target="../media/image15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3.png"/><Relationship Id="rId5" Type="http://schemas.openxmlformats.org/officeDocument/2006/relationships/image" Target="../media/image2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9.png"/><Relationship Id="rId4" Type="http://schemas.openxmlformats.org/officeDocument/2006/relationships/image" Target="../media/image24.png"/><Relationship Id="rId5" Type="http://schemas.openxmlformats.org/officeDocument/2006/relationships/image" Target="../media/image22.png"/><Relationship Id="rId6" Type="http://schemas.openxmlformats.org/officeDocument/2006/relationships/image" Target="../media/image1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9.png"/><Relationship Id="rId4" Type="http://schemas.openxmlformats.org/officeDocument/2006/relationships/image" Target="../media/image20.png"/><Relationship Id="rId9" Type="http://schemas.openxmlformats.org/officeDocument/2006/relationships/image" Target="../media/image16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9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9.png"/><Relationship Id="rId4" Type="http://schemas.openxmlformats.org/officeDocument/2006/relationships/image" Target="../media/image18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3"/>
          <p:cNvSpPr txBox="1"/>
          <p:nvPr/>
        </p:nvSpPr>
        <p:spPr>
          <a:xfrm>
            <a:off x="4229100" y="1950839"/>
            <a:ext cx="37338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JAVA DEVELOPMENT PROJECT</a:t>
            </a:r>
            <a:endParaRPr/>
          </a:p>
        </p:txBody>
      </p:sp>
      <p:sp>
        <p:nvSpPr>
          <p:cNvPr id="86" name="Google Shape;86;p13"/>
          <p:cNvSpPr txBox="1"/>
          <p:nvPr/>
        </p:nvSpPr>
        <p:spPr>
          <a:xfrm>
            <a:off x="3295650" y="2427089"/>
            <a:ext cx="5600700" cy="150852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6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Vehicle Rental</a:t>
            </a:r>
            <a:br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b="1" i="0" lang="en-US" sz="66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System</a:t>
            </a:r>
            <a:endParaRPr/>
          </a:p>
        </p:txBody>
      </p:sp>
      <p:sp>
        <p:nvSpPr>
          <p:cNvPr id="87" name="Google Shape;87;p13"/>
          <p:cNvSpPr txBox="1"/>
          <p:nvPr/>
        </p:nvSpPr>
        <p:spPr>
          <a:xfrm>
            <a:off x="2762250" y="4221360"/>
            <a:ext cx="66675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94A3B8"/>
                </a:solidFill>
                <a:latin typeface="Urbanist"/>
                <a:ea typeface="Urbanist"/>
                <a:cs typeface="Urbanist"/>
                <a:sym typeface="Urbanist"/>
              </a:rPr>
              <a:t>A polymorphic implementation of a vehicle rental engine featuring brand-specific rates and automated calculations.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2" name="Google Shape;92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3" name="Google Shape;93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533400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4" name="Google Shape;94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47800"/>
            <a:ext cx="5334000" cy="22764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5" name="Google Shape;95;p14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71500" y="4105275"/>
            <a:ext cx="5334000" cy="2286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286500" y="4105275"/>
            <a:ext cx="5334000" cy="2286000"/>
          </a:xfrm>
          <a:prstGeom prst="rect">
            <a:avLst/>
          </a:prstGeom>
          <a:noFill/>
          <a:ln>
            <a:noFill/>
          </a:ln>
        </p:spPr>
      </p:pic>
      <p:sp>
        <p:nvSpPr>
          <p:cNvPr id="97" name="Google Shape;97;p14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CORE OBJECTIVES</a:t>
            </a:r>
            <a:endParaRPr/>
          </a:p>
        </p:txBody>
      </p:sp>
      <p:sp>
        <p:nvSpPr>
          <p:cNvPr id="98" name="Google Shape;98;p14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14"/>
          <p:cNvSpPr txBox="1"/>
          <p:nvPr/>
        </p:nvSpPr>
        <p:spPr>
          <a:xfrm>
            <a:off x="866775" y="2390775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OOP Pillars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866775" y="285750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Demonstrating inheritance through a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Vehicle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base class and specialized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Car/Bike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child classes.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6581775" y="2390775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Dynamic Pricing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6581775" y="2857500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Implementing distinct rate structures using </a:t>
            </a: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Method Overriding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to calculate complex rental costs.</a:t>
            </a:r>
            <a:endParaRPr/>
          </a:p>
        </p:txBody>
      </p:sp>
      <p:sp>
        <p:nvSpPr>
          <p:cNvPr id="103" name="Google Shape;103;p14"/>
          <p:cNvSpPr txBox="1"/>
          <p:nvPr/>
        </p:nvSpPr>
        <p:spPr>
          <a:xfrm>
            <a:off x="866775" y="504825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User Interface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66775" y="5514975"/>
            <a:ext cx="474345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Providing a robust console-based experience with interactive menus and formatted receipt outputs.</a:t>
            </a:r>
            <a:endParaRPr/>
          </a:p>
        </p:txBody>
      </p:sp>
      <p:sp>
        <p:nvSpPr>
          <p:cNvPr id="105" name="Google Shape;105;p14"/>
          <p:cNvSpPr txBox="1"/>
          <p:nvPr/>
        </p:nvSpPr>
        <p:spPr>
          <a:xfrm>
            <a:off x="6581775" y="5048250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Data Integrity</a:t>
            </a:r>
            <a:endParaRPr/>
          </a:p>
        </p:txBody>
      </p:sp>
      <p:sp>
        <p:nvSpPr>
          <p:cNvPr id="106" name="Google Shape;106;p14"/>
          <p:cNvSpPr txBox="1"/>
          <p:nvPr/>
        </p:nvSpPr>
        <p:spPr>
          <a:xfrm>
            <a:off x="6581775" y="5514975"/>
            <a:ext cx="4743450" cy="581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Using super() for constructor chaining to ensure all parent properties are initialized correctly.</a:t>
            </a:r>
            <a:endParaRPr/>
          </a:p>
        </p:txBody>
      </p:sp>
      <p:pic>
        <p:nvPicPr>
          <p:cNvPr descr="image.png" id="107" name="Google Shape;107;p14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866775" y="1771650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4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581775" y="1771650"/>
            <a:ext cx="285750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4"/>
          <p:cNvPicPr preferRelativeResize="0"/>
          <p:nvPr/>
        </p:nvPicPr>
        <p:blipFill rotWithShape="1">
          <a:blip r:embed="rId10">
            <a:alphaModFix/>
          </a:blip>
          <a:srcRect b="0" l="0" r="0" t="0"/>
          <a:stretch/>
        </p:blipFill>
        <p:spPr>
          <a:xfrm>
            <a:off x="866775" y="4429125"/>
            <a:ext cx="428625" cy="381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4"/>
          <p:cNvPicPr preferRelativeResize="0"/>
          <p:nvPr/>
        </p:nvPicPr>
        <p:blipFill rotWithShape="1">
          <a:blip r:embed="rId11">
            <a:alphaModFix/>
          </a:blip>
          <a:srcRect b="0" l="0" r="0" t="0"/>
          <a:stretch/>
        </p:blipFill>
        <p:spPr>
          <a:xfrm>
            <a:off x="6581775" y="4429125"/>
            <a:ext cx="381000" cy="381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15" name="Google Shape;115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15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SYSTEM WORKFLOW</a:t>
            </a:r>
            <a:endParaRPr/>
          </a:p>
        </p:txBody>
      </p:sp>
      <p:sp>
        <p:nvSpPr>
          <p:cNvPr id="117" name="Google Shape;117;p15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8" name="Google Shape;118;p15"/>
          <p:cNvSpPr txBox="1"/>
          <p:nvPr/>
        </p:nvSpPr>
        <p:spPr>
          <a:xfrm>
            <a:off x="571500" y="1447800"/>
            <a:ext cx="560070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Operational Steps</a:t>
            </a:r>
            <a:endParaRPr/>
          </a:p>
        </p:txBody>
      </p:sp>
      <p:pic>
        <p:nvPicPr>
          <p:cNvPr descr="image.png" id="119" name="Google Shape;119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6500" y="1447800"/>
            <a:ext cx="5334000" cy="4521993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15"/>
          <p:cNvSpPr txBox="1"/>
          <p:nvPr/>
        </p:nvSpPr>
        <p:spPr>
          <a:xfrm>
            <a:off x="571500" y="1962150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Selection: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User picks vehicle type (Car/Bike).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243840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Configuration: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System assigns a specific base rate per brand.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71500" y="3200400"/>
            <a:ext cx="5334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Processing: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User enters rental duration in days.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71500" y="3676650"/>
            <a:ext cx="5334000" cy="571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219075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Execution:</a:t>
            </a: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 Runtime polymorphism triggers the child's calculation logic.</a:t>
            </a:r>
            <a:endParaRPr/>
          </a:p>
        </p:txBody>
      </p:sp>
      <p:pic>
        <p:nvPicPr>
          <p:cNvPr descr="image.png" id="124" name="Google Shape;124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08597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5" name="Google Shape;125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256222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6" name="Google Shape;126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324225"/>
            <a:ext cx="76200" cy="762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27" name="Google Shape;127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71500" y="3800475"/>
            <a:ext cx="76200" cy="76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2" name="Google Shape;132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3" name="Google Shape;133;p16"/>
          <p:cNvSpPr txBox="1"/>
          <p:nvPr/>
        </p:nvSpPr>
        <p:spPr>
          <a:xfrm>
            <a:off x="2025491" y="2819400"/>
            <a:ext cx="8141017" cy="819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4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PROJECT SCREENSHOTS</a:t>
            </a:r>
            <a:endParaRPr/>
          </a:p>
        </p:txBody>
      </p:sp>
      <p:sp>
        <p:nvSpPr>
          <p:cNvPr id="134" name="Google Shape;134;p16"/>
          <p:cNvSpPr txBox="1"/>
          <p:nvPr/>
        </p:nvSpPr>
        <p:spPr>
          <a:xfrm>
            <a:off x="3771900" y="3638550"/>
            <a:ext cx="4648200" cy="4000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LIVE EXECUTION FROM THE CONSOLE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9" name="Google Shape;139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0" name="Google Shape;140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9149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1" name="Google Shape;141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57325"/>
            <a:ext cx="11029950" cy="3619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7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INTERACTIVE SELECTION</a:t>
            </a:r>
            <a:endParaRPr/>
          </a:p>
        </p:txBody>
      </p:sp>
      <p:sp>
        <p:nvSpPr>
          <p:cNvPr id="143" name="Google Shape;143;p17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4" name="Google Shape;144;p17"/>
          <p:cNvSpPr/>
          <p:nvPr/>
        </p:nvSpPr>
        <p:spPr>
          <a:xfrm>
            <a:off x="771525" y="15525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5F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5" name="Google Shape;145;p17"/>
          <p:cNvSpPr/>
          <p:nvPr/>
        </p:nvSpPr>
        <p:spPr>
          <a:xfrm>
            <a:off x="962025" y="15525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BD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6" name="Google Shape;146;p17"/>
          <p:cNvSpPr/>
          <p:nvPr/>
        </p:nvSpPr>
        <p:spPr>
          <a:xfrm>
            <a:off x="1152525" y="15525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7C9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17"/>
          <p:cNvSpPr txBox="1"/>
          <p:nvPr/>
        </p:nvSpPr>
        <p:spPr>
          <a:xfrm>
            <a:off x="1533525" y="1552575"/>
            <a:ext cx="1981200" cy="1714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666666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Main.java - Console Output</a:t>
            </a:r>
            <a:endParaRPr/>
          </a:p>
        </p:txBody>
      </p:sp>
      <p:sp>
        <p:nvSpPr>
          <p:cNvPr id="148" name="Google Shape;148;p17"/>
          <p:cNvSpPr txBox="1"/>
          <p:nvPr/>
        </p:nvSpPr>
        <p:spPr>
          <a:xfrm>
            <a:off x="866775" y="21050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================================================</a:t>
            </a:r>
            <a:endParaRPr/>
          </a:p>
        </p:txBody>
      </p:sp>
      <p:sp>
        <p:nvSpPr>
          <p:cNvPr id="149" name="Google Shape;149;p17"/>
          <p:cNvSpPr txBox="1"/>
          <p:nvPr/>
        </p:nvSpPr>
        <p:spPr>
          <a:xfrm>
            <a:off x="866775" y="23907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VEHICLE RENTAL MANAGEMENT SYSTEM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866775" y="26765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================================================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866775" y="32289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Vehicle Type:</a:t>
            </a:r>
            <a:endParaRPr/>
          </a:p>
        </p:txBody>
      </p:sp>
      <p:sp>
        <p:nvSpPr>
          <p:cNvPr id="152" name="Google Shape;152;p17"/>
          <p:cNvSpPr txBox="1"/>
          <p:nvPr/>
        </p:nvSpPr>
        <p:spPr>
          <a:xfrm>
            <a:off x="866775" y="35147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Car</a:t>
            </a:r>
            <a:endParaRPr/>
          </a:p>
        </p:txBody>
      </p:sp>
      <p:sp>
        <p:nvSpPr>
          <p:cNvPr id="153" name="Google Shape;153;p17"/>
          <p:cNvSpPr txBox="1"/>
          <p:nvPr/>
        </p:nvSpPr>
        <p:spPr>
          <a:xfrm>
            <a:off x="866775" y="38004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Bike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866775" y="40862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 choice (1 or 2): </a:t>
            </a:r>
            <a:r>
              <a:rPr b="0" i="0" lang="en-US" sz="1500" u="none" cap="none" strike="noStrike">
                <a:solidFill>
                  <a:srgbClr val="DEFF9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1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866775" y="46386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Select a Car Brand (Unique base rates):</a:t>
            </a:r>
            <a:endParaRPr/>
          </a:p>
        </p:txBody>
      </p:sp>
      <p:sp>
        <p:nvSpPr>
          <p:cNvPr id="156" name="Google Shape;156;p17"/>
          <p:cNvSpPr txBox="1"/>
          <p:nvPr/>
        </p:nvSpPr>
        <p:spPr>
          <a:xfrm>
            <a:off x="866775" y="49244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1. Hyundai i20 - Economy (Base: 600/day)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866775" y="52101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2. Tata Nexon - SUV (Base: 900/day)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866775" y="54959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3. Honda Civic - Luxury (Base: 1200/day)</a:t>
            </a:r>
            <a:endParaRPr/>
          </a:p>
        </p:txBody>
      </p:sp>
      <p:sp>
        <p:nvSpPr>
          <p:cNvPr id="159" name="Google Shape;159;p17"/>
          <p:cNvSpPr txBox="1"/>
          <p:nvPr/>
        </p:nvSpPr>
        <p:spPr>
          <a:xfrm>
            <a:off x="866775" y="57816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 choice (1-3): </a:t>
            </a:r>
            <a:r>
              <a:rPr b="0" i="0" lang="en-US" sz="1500" u="none" cap="none" strike="noStrike">
                <a:solidFill>
                  <a:srgbClr val="DEFF9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3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4" name="Google Shape;164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5" name="Google Shape;165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11049000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6" name="Google Shape;166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81025" y="1457325"/>
            <a:ext cx="11029950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167" name="Google Shape;167;p18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FINAL RECEIPT GENERATION</a:t>
            </a:r>
            <a:endParaRPr/>
          </a:p>
        </p:txBody>
      </p:sp>
      <p:sp>
        <p:nvSpPr>
          <p:cNvPr id="168" name="Google Shape;168;p18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8"/>
          <p:cNvSpPr/>
          <p:nvPr/>
        </p:nvSpPr>
        <p:spPr>
          <a:xfrm>
            <a:off x="771525" y="15525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5F56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8"/>
          <p:cNvSpPr/>
          <p:nvPr/>
        </p:nvSpPr>
        <p:spPr>
          <a:xfrm>
            <a:off x="962025" y="15525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FFBD2E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8"/>
          <p:cNvSpPr/>
          <p:nvPr/>
        </p:nvSpPr>
        <p:spPr>
          <a:xfrm>
            <a:off x="1152525" y="1552575"/>
            <a:ext cx="114300" cy="114300"/>
          </a:xfrm>
          <a:prstGeom prst="roundRect">
            <a:avLst>
              <a:gd fmla="val 50000" name="adj"/>
            </a:avLst>
          </a:prstGeom>
          <a:solidFill>
            <a:srgbClr val="27C93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8"/>
          <p:cNvSpPr txBox="1"/>
          <p:nvPr/>
        </p:nvSpPr>
        <p:spPr>
          <a:xfrm>
            <a:off x="866775" y="20478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Enter number of days to rent: </a:t>
            </a:r>
            <a:r>
              <a:rPr b="0" i="0" lang="en-US" sz="1500" u="none" cap="none" strike="noStrike">
                <a:solidFill>
                  <a:srgbClr val="DEFF9A"/>
                </a:solidFill>
                <a:latin typeface="JetBrains Mono SemiBold"/>
                <a:ea typeface="JetBrains Mono SemiBold"/>
                <a:cs typeface="JetBrains Mono SemiBold"/>
                <a:sym typeface="JetBrains Mono SemiBold"/>
              </a:rPr>
              <a:t>5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866775" y="26003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------------------------------------------------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866775" y="28860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FINAL RENTAL RECEIPT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866775" y="31718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------------------------------------------------</a:t>
            </a:r>
            <a:endParaRPr/>
          </a:p>
        </p:txBody>
      </p:sp>
      <p:sp>
        <p:nvSpPr>
          <p:cNvPr id="176" name="Google Shape;176;p18"/>
          <p:cNvSpPr txBox="1"/>
          <p:nvPr/>
        </p:nvSpPr>
        <p:spPr>
          <a:xfrm>
            <a:off x="866775" y="34575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Vehicle Number :</a:t>
            </a:r>
            <a:endParaRPr/>
          </a:p>
        </p:txBody>
      </p:sp>
      <p:sp>
        <p:nvSpPr>
          <p:cNvPr id="177" name="Google Shape;177;p18"/>
          <p:cNvSpPr txBox="1"/>
          <p:nvPr/>
        </p:nvSpPr>
        <p:spPr>
          <a:xfrm>
            <a:off x="866775" y="37433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Brand/Model : Honda Civic</a:t>
            </a:r>
            <a:endParaRPr/>
          </a:p>
        </p:txBody>
      </p:sp>
      <p:sp>
        <p:nvSpPr>
          <p:cNvPr id="178" name="Google Shape;178;p18"/>
          <p:cNvSpPr txBox="1"/>
          <p:nvPr/>
        </p:nvSpPr>
        <p:spPr>
          <a:xfrm>
            <a:off x="866775" y="40290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Base Rate/Day : 1200.0</a:t>
            </a:r>
            <a:endParaRPr/>
          </a:p>
        </p:txBody>
      </p:sp>
      <p:sp>
        <p:nvSpPr>
          <p:cNvPr id="179" name="Google Shape;179;p18"/>
          <p:cNvSpPr txBox="1"/>
          <p:nvPr/>
        </p:nvSpPr>
        <p:spPr>
          <a:xfrm>
            <a:off x="866775" y="458152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Rental Duration: 5 days</a:t>
            </a:r>
            <a:endParaRPr/>
          </a:p>
        </p:txBody>
      </p:sp>
      <p:sp>
        <p:nvSpPr>
          <p:cNvPr id="180" name="Google Shape;180;p18"/>
          <p:cNvSpPr txBox="1"/>
          <p:nvPr/>
        </p:nvSpPr>
        <p:spPr>
          <a:xfrm>
            <a:off x="866775" y="4867275"/>
            <a:ext cx="10458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rgbClr val="DEFF9A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Total Rent Due : 7000.0</a:t>
            </a:r>
            <a:endParaRPr/>
          </a:p>
        </p:txBody>
      </p:sp>
      <p:sp>
        <p:nvSpPr>
          <p:cNvPr id="181" name="Google Shape;181;p18"/>
          <p:cNvSpPr txBox="1"/>
          <p:nvPr/>
        </p:nvSpPr>
        <p:spPr>
          <a:xfrm>
            <a:off x="866775" y="5324475"/>
            <a:ext cx="104584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888888"/>
                </a:solidFill>
                <a:latin typeface="JetBrains Mono"/>
                <a:ea typeface="JetBrains Mono"/>
                <a:cs typeface="JetBrains Mono"/>
                <a:sym typeface="JetBrains Mono"/>
              </a:rPr>
              <a:t>================================================</a:t>
            </a:r>
            <a:endParaRPr/>
          </a:p>
        </p:txBody>
      </p:sp>
      <p:pic>
        <p:nvPicPr>
          <p:cNvPr descr="image.png" id="182" name="Google Shape;182;p1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2809875" y="3476625"/>
            <a:ext cx="1695450" cy="247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186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87" name="Google Shape;187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8" name="Google Shape;188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1447800"/>
            <a:ext cx="5334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89" name="Google Shape;189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286500" y="1447800"/>
            <a:ext cx="5334000" cy="238125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0" name="Google Shape;190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866775" y="2352675"/>
            <a:ext cx="2610742" cy="5810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1" name="Google Shape;191;p19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6581775" y="2352675"/>
            <a:ext cx="2648842" cy="581025"/>
          </a:xfrm>
          <a:prstGeom prst="rect">
            <a:avLst/>
          </a:prstGeom>
          <a:noFill/>
          <a:ln>
            <a:noFill/>
          </a:ln>
        </p:spPr>
      </p:pic>
      <p:sp>
        <p:nvSpPr>
          <p:cNvPr id="192" name="Google Shape;192;p19"/>
          <p:cNvSpPr txBox="1"/>
          <p:nvPr/>
        </p:nvSpPr>
        <p:spPr>
          <a:xfrm>
            <a:off x="809625" y="571500"/>
            <a:ext cx="11351418" cy="4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9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CALCULATION ALGORITHMS</a:t>
            </a:r>
            <a:endParaRPr/>
          </a:p>
        </p:txBody>
      </p:sp>
      <p:sp>
        <p:nvSpPr>
          <p:cNvPr id="193" name="Google Shape;193;p19"/>
          <p:cNvSpPr/>
          <p:nvPr/>
        </p:nvSpPr>
        <p:spPr>
          <a:xfrm>
            <a:off x="571500" y="571500"/>
            <a:ext cx="76200" cy="495300"/>
          </a:xfrm>
          <a:prstGeom prst="rect">
            <a:avLst/>
          </a:prstGeom>
          <a:solidFill>
            <a:srgbClr val="DEFF9A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 txBox="1"/>
          <p:nvPr/>
        </p:nvSpPr>
        <p:spPr>
          <a:xfrm>
            <a:off x="866775" y="1743075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Car Logic</a:t>
            </a:r>
            <a:endParaRPr/>
          </a:p>
        </p:txBody>
      </p:sp>
      <p:sp>
        <p:nvSpPr>
          <p:cNvPr id="195" name="Google Shape;195;p19"/>
          <p:cNvSpPr txBox="1"/>
          <p:nvPr/>
        </p:nvSpPr>
        <p:spPr>
          <a:xfrm>
            <a:off x="866775" y="3076575"/>
            <a:ext cx="4743450" cy="45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Includes a flat premium service fee for car maintenance and overhead.</a:t>
            </a:r>
            <a:endParaRPr/>
          </a:p>
        </p:txBody>
      </p:sp>
      <p:sp>
        <p:nvSpPr>
          <p:cNvPr id="196" name="Google Shape;196;p19"/>
          <p:cNvSpPr txBox="1"/>
          <p:nvPr/>
        </p:nvSpPr>
        <p:spPr>
          <a:xfrm>
            <a:off x="6581775" y="1743075"/>
            <a:ext cx="4980622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Bike Logic</a:t>
            </a:r>
            <a:endParaRPr/>
          </a:p>
        </p:txBody>
      </p:sp>
      <p:sp>
        <p:nvSpPr>
          <p:cNvPr id="197" name="Google Shape;197;p19"/>
          <p:cNvSpPr txBox="1"/>
          <p:nvPr/>
        </p:nvSpPr>
        <p:spPr>
          <a:xfrm>
            <a:off x="6581775" y="3076575"/>
            <a:ext cx="4743450" cy="2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Applies a 10% promotional discount to encourage eco-friendly travel.</a:t>
            </a:r>
            <a:endParaRPr/>
          </a:p>
        </p:txBody>
      </p:sp>
      <p:pic>
        <p:nvPicPr>
          <p:cNvPr descr="image.png" id="198" name="Google Shape;198;p19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1066800" y="2581275"/>
            <a:ext cx="2210692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99" name="Google Shape;199;p19"/>
          <p:cNvPicPr preferRelativeResize="0"/>
          <p:nvPr/>
        </p:nvPicPr>
        <p:blipFill rotWithShape="1">
          <a:blip r:embed="rId9">
            <a:alphaModFix/>
          </a:blip>
          <a:srcRect b="0" l="0" r="0" t="0"/>
          <a:stretch/>
        </p:blipFill>
        <p:spPr>
          <a:xfrm>
            <a:off x="6781800" y="2581275"/>
            <a:ext cx="2248792" cy="152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00000"/>
        </a:solidFill>
      </p:bgPr>
    </p:bg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4" name="Google Shape;204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05" name="Google Shape;205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3514725"/>
            <a:ext cx="11049000" cy="1562100"/>
          </a:xfrm>
          <a:prstGeom prst="rect">
            <a:avLst/>
          </a:prstGeom>
          <a:noFill/>
          <a:ln>
            <a:noFill/>
          </a:ln>
        </p:spPr>
      </p:pic>
      <p:sp>
        <p:nvSpPr>
          <p:cNvPr id="206" name="Google Shape;206;p20"/>
          <p:cNvSpPr txBox="1"/>
          <p:nvPr/>
        </p:nvSpPr>
        <p:spPr>
          <a:xfrm>
            <a:off x="295275" y="1781175"/>
            <a:ext cx="11601450" cy="914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DEFF9A"/>
                </a:solidFill>
                <a:latin typeface="Urbanist"/>
                <a:ea typeface="Urbanist"/>
                <a:cs typeface="Urbanist"/>
                <a:sym typeface="Urbanist"/>
              </a:rPr>
              <a:t>Conclusion</a:t>
            </a:r>
            <a:endParaRPr/>
          </a:p>
        </p:txBody>
      </p:sp>
      <p:sp>
        <p:nvSpPr>
          <p:cNvPr id="207" name="Google Shape;207;p20"/>
          <p:cNvSpPr txBox="1"/>
          <p:nvPr/>
        </p:nvSpPr>
        <p:spPr>
          <a:xfrm>
            <a:off x="571500" y="2695575"/>
            <a:ext cx="11049000" cy="342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8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The project successfully applies Core Java concepts to solve a real-world business scenario.</a:t>
            </a:r>
            <a:endParaRPr/>
          </a:p>
        </p:txBody>
      </p:sp>
      <p:sp>
        <p:nvSpPr>
          <p:cNvPr id="208" name="Google Shape;208;p20"/>
          <p:cNvSpPr txBox="1"/>
          <p:nvPr/>
        </p:nvSpPr>
        <p:spPr>
          <a:xfrm>
            <a:off x="695325" y="3895725"/>
            <a:ext cx="10801350" cy="3238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FFFFFF"/>
                </a:solidFill>
                <a:latin typeface="Urbanist"/>
                <a:ea typeface="Urbanist"/>
                <a:cs typeface="Urbanist"/>
                <a:sym typeface="Urbanist"/>
              </a:rPr>
              <a:t>Questions &amp; Feedback?</a:t>
            </a:r>
            <a:endParaRPr/>
          </a:p>
        </p:txBody>
      </p:sp>
      <p:sp>
        <p:nvSpPr>
          <p:cNvPr id="209" name="Google Shape;209;p20"/>
          <p:cNvSpPr txBox="1"/>
          <p:nvPr/>
        </p:nvSpPr>
        <p:spPr>
          <a:xfrm>
            <a:off x="952500" y="4410075"/>
            <a:ext cx="1028700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CBD5E1"/>
                </a:solidFill>
                <a:latin typeface="Urbanist"/>
                <a:ea typeface="Urbanist"/>
                <a:cs typeface="Urbanist"/>
                <a:sym typeface="Urbanist"/>
              </a:rPr>
              <a:t>github.com/project-repo | dev-team@company.com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